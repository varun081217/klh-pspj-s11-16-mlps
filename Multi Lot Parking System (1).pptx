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embeddedFontLst>
    <p:embeddedFont>
      <p:font typeface="JetBrains Mono"/>
      <p:bold r:id="rId10"/>
    </p:embeddedFont>
    <p:embeddedFont>
      <p:font typeface="Plus Jakarta Sans"/>
      <p:bold r:id="rId11"/>
    </p:embeddedFont>
    <p:embeddedFont>
      <p:font typeface="Calibri" panose="020F0502020204030204" pitchFamily="34" charset="0"/>
      <p:regular r:id="rId12"/>
      <p:bold r:id="rId13"/>
      <p:italic r:id="rId14"/>
      <p:boldItalic r:id="rId15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8" d="100"/>
          <a:sy n="88" d="100"/>
        </p:scale>
        <p:origin x="466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5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4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62000" y="1893540"/>
            <a:ext cx="2695575" cy="333375"/>
          </a:xfrm>
          <a:prstGeom prst="roundRect">
            <a:avLst>
              <a:gd name="adj" fmla="val 50000"/>
            </a:avLst>
          </a:prstGeom>
          <a:solidFill>
            <a:srgbClr val="242457"/>
          </a:solidFill>
          <a:ln w="9525">
            <a:solidFill>
              <a:srgbClr val="3435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62000" y="4135635"/>
            <a:ext cx="10668000" cy="8286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62000" y="4135635"/>
            <a:ext cx="10668000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925" y="1984027"/>
            <a:ext cx="133350" cy="152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2000" y="2455515"/>
            <a:ext cx="10626328" cy="613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4830"/>
              </a:lnSpc>
            </a:pPr>
            <a:r>
              <a:rPr sz="4200" b="1" i="0" u="none">
                <a:solidFill>
                  <a:srgbClr val="FFFFFF"/>
                </a:solidFill>
                <a:latin typeface="Plus Jakarta Sans"/>
              </a:rPr>
              <a:t>Multi Lot Parking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3221235"/>
            <a:ext cx="6762750" cy="533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u="none">
                <a:solidFill>
                  <a:srgbClr val="CBD5E1"/>
                </a:solidFill>
                <a:latin typeface="Plus Jakarta Sans"/>
              </a:rPr>
              <a:t>Core Java application for automated slot management, vehicle entry tracking, and multi-lot coordination.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525" y="1979265"/>
            <a:ext cx="2678906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818CF8"/>
                </a:solidFill>
                <a:latin typeface="JetBrains Mono"/>
              </a:rPr>
              <a:t>TEAM NO: 16 | KLH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4411860"/>
            <a:ext cx="1452562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94A3B8"/>
                </a:solidFill>
                <a:latin typeface="Plus Jakarta Sans"/>
              </a:rPr>
              <a:t>DEVELOPER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4602360"/>
            <a:ext cx="1452562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F8FAFC"/>
                </a:solidFill>
                <a:latin typeface="Plus Jakarta Sans"/>
              </a:rPr>
              <a:t>Aravapalli Varun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4802385"/>
            <a:ext cx="1452562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818CF8"/>
                </a:solidFill>
                <a:latin typeface="JetBrains Mono"/>
              </a:rPr>
              <a:t>2620030414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28850" y="4411860"/>
            <a:ext cx="1390650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94A3B8"/>
                </a:solidFill>
                <a:latin typeface="Plus Jakarta Sans"/>
              </a:rPr>
              <a:t>DEVELOPER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28850" y="4602360"/>
            <a:ext cx="139065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F8FAFC"/>
                </a:solidFill>
                <a:latin typeface="Plus Jakarta Sans"/>
              </a:rPr>
              <a:t>Santosh Boddu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8850" y="4802385"/>
            <a:ext cx="139065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818CF8"/>
                </a:solidFill>
                <a:latin typeface="JetBrains Mono"/>
              </a:rPr>
              <a:t>2620030436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38550" y="4411860"/>
            <a:ext cx="1464468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94A3B8"/>
                </a:solidFill>
                <a:latin typeface="Plus Jakarta Sans"/>
              </a:rPr>
              <a:t>DEVELOPER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8550" y="4602360"/>
            <a:ext cx="1464468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F8FAFC"/>
                </a:solidFill>
                <a:latin typeface="Plus Jakarta Sans"/>
              </a:rPr>
              <a:t>M Venkata Likith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8550" y="4802385"/>
            <a:ext cx="1464468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818CF8"/>
                </a:solidFill>
                <a:latin typeface="JetBrains Mono"/>
              </a:rPr>
              <a:t>2620030352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" y="5934075"/>
            <a:ext cx="10668000" cy="3143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2000" y="2451794"/>
            <a:ext cx="5181600" cy="2464891"/>
          </a:xfrm>
          <a:prstGeom prst="roundRect">
            <a:avLst>
              <a:gd name="adj" fmla="val 618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248400" y="2451794"/>
            <a:ext cx="5181600" cy="2464891"/>
          </a:xfrm>
          <a:prstGeom prst="roundRect">
            <a:avLst>
              <a:gd name="adj" fmla="val 618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62000" y="5934075"/>
            <a:ext cx="10668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62000" y="4907160"/>
            <a:ext cx="51816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62000" y="2451794"/>
            <a:ext cx="5181600" cy="381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62000" y="2451794"/>
            <a:ext cx="9525" cy="2464891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934075" y="2451794"/>
            <a:ext cx="9525" cy="2464891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48400" y="4907160"/>
            <a:ext cx="51816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48400" y="2451794"/>
            <a:ext cx="51816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48400" y="2451794"/>
            <a:ext cx="9525" cy="2464891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1420475" y="2451794"/>
            <a:ext cx="9525" cy="2464891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425" y="2832794"/>
            <a:ext cx="457200" cy="45720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0825" y="2832794"/>
            <a:ext cx="457200" cy="45720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8250" y="2956619"/>
            <a:ext cx="209550" cy="20955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6075" y="2956619"/>
            <a:ext cx="266700" cy="20955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62000" y="609600"/>
            <a:ext cx="11430000" cy="16192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75" b="1" i="0" u="none">
                <a:solidFill>
                  <a:srgbClr val="4F46E5"/>
                </a:solidFill>
                <a:latin typeface="Plus Jakarta Sans"/>
              </a:rPr>
              <a:t>OVERVIEW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885825"/>
            <a:ext cx="11430000" cy="4342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420"/>
              </a:lnSpc>
            </a:pPr>
            <a:r>
              <a:rPr sz="2850" b="1" i="0" u="none">
                <a:solidFill>
                  <a:srgbClr val="0F172A"/>
                </a:solidFill>
                <a:latin typeface="Plus Jakarta Sans"/>
              </a:rPr>
              <a:t>System Abstract &amp; Objectives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6096000"/>
            <a:ext cx="3917156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0F172A"/>
                </a:solidFill>
                <a:latin typeface="JetBrains Mono"/>
              </a:rPr>
              <a:t>Multi Lot Parking System — Project Presentation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63250" y="6096000"/>
            <a:ext cx="952500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0F172A"/>
                </a:solidFill>
                <a:latin typeface="JetBrains Mono"/>
              </a:rPr>
              <a:t>16-09-2026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4425" y="3480494"/>
            <a:ext cx="5875734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Plus Jakarta Sans"/>
              </a:rPr>
              <a:t>Unified Lot Management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4425" y="3832919"/>
            <a:ext cx="4572000" cy="7313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475569"/>
                </a:solidFill>
                <a:latin typeface="Plus Jakarta Sans"/>
              </a:rPr>
              <a:t>Java-based application managing vehicle parking across multiple lots, recording availability and tracking entry/exit states in real-time.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00825" y="3480494"/>
            <a:ext cx="5591175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Plus Jakarta Sans"/>
              </a:rPr>
              <a:t>Core Programming Alignment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00825" y="3832919"/>
            <a:ext cx="4572000" cy="7313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475569"/>
                </a:solidFill>
                <a:latin typeface="Plus Jakarta Sans"/>
              </a:rPr>
              <a:t>Demonstrates fundamental programming concepts from CO1, CO2, and CO3 through a practical, real-world parking management problem.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" y="5934075"/>
            <a:ext cx="10668000" cy="3143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2000" y="2451794"/>
            <a:ext cx="4774555" cy="2464891"/>
          </a:xfrm>
          <a:prstGeom prst="roundRect">
            <a:avLst>
              <a:gd name="adj" fmla="val 618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841355" y="2303115"/>
            <a:ext cx="5588644" cy="276225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62000" y="5934075"/>
            <a:ext cx="10668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62000" y="4907160"/>
            <a:ext cx="477455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62000" y="2451794"/>
            <a:ext cx="4774555" cy="3810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62000" y="2451794"/>
            <a:ext cx="9525" cy="2464891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527030" y="2451794"/>
            <a:ext cx="9525" cy="2464891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841355" y="5055840"/>
            <a:ext cx="558864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841355" y="2303115"/>
            <a:ext cx="5588644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841355" y="2303115"/>
            <a:ext cx="9525" cy="27622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1420475" y="2303115"/>
            <a:ext cx="9525" cy="27622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425" y="2832794"/>
            <a:ext cx="457200" cy="45720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3780" y="2684115"/>
            <a:ext cx="457200" cy="45720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8250" y="2956619"/>
            <a:ext cx="209550" cy="20955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17605" y="2807940"/>
            <a:ext cx="209550" cy="20955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62000" y="609600"/>
            <a:ext cx="11430000" cy="16192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75" b="1" i="0" u="none">
                <a:solidFill>
                  <a:srgbClr val="4F46E5"/>
                </a:solidFill>
                <a:latin typeface="Plus Jakarta Sans"/>
              </a:rPr>
              <a:t>CHALLENGE &amp; APPROACH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885825"/>
            <a:ext cx="11430000" cy="4342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420"/>
              </a:lnSpc>
            </a:pPr>
            <a:r>
              <a:rPr sz="2850" b="1" i="0" u="none">
                <a:solidFill>
                  <a:srgbClr val="0F172A"/>
                </a:solidFill>
                <a:latin typeface="Plus Jakarta Sans"/>
              </a:rPr>
              <a:t>Understanding Problem Statement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6096000"/>
            <a:ext cx="3917156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0F172A"/>
                </a:solidFill>
                <a:latin typeface="JetBrains Mono"/>
              </a:rPr>
              <a:t>Multi Lot Parking System — Project Presentation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63250" y="6096000"/>
            <a:ext cx="952500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0F172A"/>
                </a:solidFill>
                <a:latin typeface="JetBrains Mono"/>
              </a:rPr>
              <a:t>16-09-2026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4425" y="3480494"/>
            <a:ext cx="5341487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Plus Jakarta Sans"/>
              </a:rPr>
              <a:t>The Problem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4425" y="3832919"/>
            <a:ext cx="4164955" cy="7313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475569"/>
                </a:solidFill>
                <a:latin typeface="Plus Jakarta Sans"/>
              </a:rPr>
              <a:t>Managing multiple parking lots manually makes tracking available spaces, slot allocations, and dynamic vehicle movement difficult and error-prone.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93780" y="3331815"/>
            <a:ext cx="5998219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Plus Jakarta Sans"/>
              </a:rPr>
              <a:t>Proposed Solution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8080" y="3684240"/>
            <a:ext cx="76200" cy="2571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475569"/>
                </a:solidFill>
                <a:latin typeface="Plus Jakarta Sans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4280" y="3684240"/>
            <a:ext cx="5807719" cy="257175"/>
          </a:xfrm>
          <a:prstGeom prst="rect">
            <a:avLst/>
          </a:prstGeom>
          <a:noFill/>
        </p:spPr>
        <p:txBody>
          <a:bodyPr wrap="none" lIns="7620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125" b="0" i="0" u="none">
                <a:solidFill>
                  <a:srgbClr val="475569"/>
                </a:solidFill>
                <a:latin typeface="Plus Jakarta Sans"/>
              </a:rPr>
              <a:t>Maintain parking-lot and slot information digitally.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8080" y="3941415"/>
            <a:ext cx="76200" cy="2571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475569"/>
                </a:solidFill>
                <a:latin typeface="Plus Jakarta Sans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4280" y="3941415"/>
            <a:ext cx="5807719" cy="257175"/>
          </a:xfrm>
          <a:prstGeom prst="rect">
            <a:avLst/>
          </a:prstGeom>
          <a:noFill/>
        </p:spPr>
        <p:txBody>
          <a:bodyPr wrap="none" lIns="7620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125" b="0" i="0" u="none">
                <a:solidFill>
                  <a:srgbClr val="475569"/>
                </a:solidFill>
                <a:latin typeface="Plus Jakarta Sans"/>
              </a:rPr>
              <a:t>Check availability before assigning parking slots.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8080" y="4198590"/>
            <a:ext cx="76200" cy="2571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475569"/>
                </a:solidFill>
                <a:latin typeface="Plus Jakarta Sans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84280" y="4198590"/>
            <a:ext cx="5807719" cy="257175"/>
          </a:xfrm>
          <a:prstGeom prst="rect">
            <a:avLst/>
          </a:prstGeom>
          <a:noFill/>
        </p:spPr>
        <p:txBody>
          <a:bodyPr wrap="none" lIns="7620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125" b="0" i="0" u="none">
                <a:solidFill>
                  <a:srgbClr val="475569"/>
                </a:solidFill>
                <a:latin typeface="Plus Jakarta Sans"/>
              </a:rPr>
              <a:t>Process entry &amp; exit using selection and iteration.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8080" y="4455765"/>
            <a:ext cx="76200" cy="2571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475569"/>
                </a:solidFill>
                <a:latin typeface="Plus Jakarta Sans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84280" y="4455765"/>
            <a:ext cx="5807719" cy="257175"/>
          </a:xfrm>
          <a:prstGeom prst="rect">
            <a:avLst/>
          </a:prstGeom>
          <a:noFill/>
        </p:spPr>
        <p:txBody>
          <a:bodyPr wrap="none" lIns="7620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125" b="0" i="0" u="none">
                <a:solidFill>
                  <a:srgbClr val="475569"/>
                </a:solidFill>
                <a:latin typeface="Plus Jakarta Sans"/>
              </a:rPr>
              <a:t>Use methods, recursion, and arrays to organize code.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" y="5934075"/>
            <a:ext cx="10668000" cy="3143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2000" y="2765077"/>
            <a:ext cx="3403550" cy="1838325"/>
          </a:xfrm>
          <a:prstGeom prst="roundRect">
            <a:avLst>
              <a:gd name="adj" fmla="val 725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394150" y="2765077"/>
            <a:ext cx="3403550" cy="1838325"/>
          </a:xfrm>
          <a:prstGeom prst="roundRect">
            <a:avLst>
              <a:gd name="adj" fmla="val 725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026300" y="2765077"/>
            <a:ext cx="3403550" cy="1838325"/>
          </a:xfrm>
          <a:prstGeom prst="roundRect">
            <a:avLst>
              <a:gd name="adj" fmla="val 725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62000" y="5934075"/>
            <a:ext cx="10668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62000" y="4593877"/>
            <a:ext cx="34035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62000" y="2765077"/>
            <a:ext cx="3403550" cy="381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62000" y="2765077"/>
            <a:ext cx="9525" cy="18383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156025" y="2765077"/>
            <a:ext cx="9525" cy="18383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94150" y="4593877"/>
            <a:ext cx="34035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94150" y="2765077"/>
            <a:ext cx="3403550" cy="381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94150" y="2765077"/>
            <a:ext cx="9525" cy="18383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788175" y="2765077"/>
            <a:ext cx="9525" cy="18383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26300" y="4593877"/>
            <a:ext cx="34035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026300" y="2765077"/>
            <a:ext cx="3403550" cy="381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026300" y="2765077"/>
            <a:ext cx="9525" cy="18383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1420326" y="2765077"/>
            <a:ext cx="9525" cy="18383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225" y="3069877"/>
            <a:ext cx="381000" cy="381000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0375" y="3069877"/>
            <a:ext cx="381000" cy="381000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2525" y="3069877"/>
            <a:ext cx="381000" cy="381000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525" y="3174652"/>
            <a:ext cx="152400" cy="17145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4675" y="3174652"/>
            <a:ext cx="152400" cy="171450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97775" y="3174652"/>
            <a:ext cx="190500" cy="17145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62000" y="609600"/>
            <a:ext cx="11430000" cy="16192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75" b="1" i="0" u="none">
                <a:solidFill>
                  <a:srgbClr val="4F46E5"/>
                </a:solidFill>
                <a:latin typeface="Plus Jakarta Sans"/>
              </a:rPr>
              <a:t>COURSE OUTCOME 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2000" y="885825"/>
            <a:ext cx="11430000" cy="4342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420"/>
              </a:lnSpc>
            </a:pPr>
            <a:r>
              <a:rPr sz="2850" b="1" i="0" u="none">
                <a:solidFill>
                  <a:srgbClr val="0F172A"/>
                </a:solidFill>
                <a:latin typeface="Plus Jakarta Sans"/>
              </a:rPr>
              <a:t>Data, Types &amp; the Shell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2000" y="6096000"/>
            <a:ext cx="3917156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0F172A"/>
                </a:solidFill>
                <a:latin typeface="JetBrains Mono"/>
              </a:rPr>
              <a:t>Multi Lot Parking System — Project Presentation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63250" y="6096000"/>
            <a:ext cx="952500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0F172A"/>
                </a:solidFill>
                <a:latin typeface="JetBrains Mono"/>
              </a:rPr>
              <a:t>16-09-2026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8225" y="3603277"/>
            <a:ext cx="3742069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Variables &amp; Primitives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8225" y="3898552"/>
            <a:ext cx="294635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475569"/>
                </a:solidFill>
                <a:latin typeface="Plus Jakarta Sans"/>
              </a:rPr>
              <a:t>Using int, double, and boolean to store vehicle status and lot capacity.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70375" y="3603277"/>
            <a:ext cx="3742069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String Identifiers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70375" y="3898552"/>
            <a:ext cx="294635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475569"/>
                </a:solidFill>
                <a:latin typeface="Plus Jakarta Sans"/>
              </a:rPr>
              <a:t>Managing vehicle license plates and slot IDs seamlessly.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02525" y="3603277"/>
            <a:ext cx="3742069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I/O &amp; Structure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02525" y="3898552"/>
            <a:ext cx="294635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475569"/>
                </a:solidFill>
                <a:latin typeface="Plus Jakarta Sans"/>
              </a:rPr>
              <a:t>Scanner input, System.out, class definitions, and main() execution.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" y="5934075"/>
            <a:ext cx="10668000" cy="3143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2000" y="2765077"/>
            <a:ext cx="3403550" cy="1838325"/>
          </a:xfrm>
          <a:prstGeom prst="roundRect">
            <a:avLst>
              <a:gd name="adj" fmla="val 725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394150" y="2765077"/>
            <a:ext cx="3403550" cy="1838325"/>
          </a:xfrm>
          <a:prstGeom prst="roundRect">
            <a:avLst>
              <a:gd name="adj" fmla="val 725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026300" y="2765077"/>
            <a:ext cx="3403550" cy="1838325"/>
          </a:xfrm>
          <a:prstGeom prst="roundRect">
            <a:avLst>
              <a:gd name="adj" fmla="val 725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62000" y="5934075"/>
            <a:ext cx="10668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62000" y="4593877"/>
            <a:ext cx="34035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62000" y="2765077"/>
            <a:ext cx="3403550" cy="381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62000" y="2765077"/>
            <a:ext cx="9525" cy="18383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156025" y="2765077"/>
            <a:ext cx="9525" cy="18383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94150" y="4593877"/>
            <a:ext cx="34035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94150" y="2765077"/>
            <a:ext cx="3403550" cy="3810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94150" y="2765077"/>
            <a:ext cx="9525" cy="18383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788175" y="2765077"/>
            <a:ext cx="9525" cy="18383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26300" y="4593877"/>
            <a:ext cx="34035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026300" y="2765077"/>
            <a:ext cx="34035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026300" y="2765077"/>
            <a:ext cx="9525" cy="18383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1420326" y="2765077"/>
            <a:ext cx="9525" cy="18383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225" y="3069877"/>
            <a:ext cx="381000" cy="381000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0375" y="3069877"/>
            <a:ext cx="381000" cy="381000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2525" y="3069877"/>
            <a:ext cx="381000" cy="381000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525" y="3174652"/>
            <a:ext cx="152400" cy="17145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5150" y="3174652"/>
            <a:ext cx="171450" cy="171450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07300" y="3174652"/>
            <a:ext cx="171450" cy="17145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62000" y="609600"/>
            <a:ext cx="11430000" cy="16192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75" b="1" i="0" u="none">
                <a:solidFill>
                  <a:srgbClr val="4F46E5"/>
                </a:solidFill>
                <a:latin typeface="Plus Jakarta Sans"/>
              </a:rPr>
              <a:t>COURSE OUTCOME 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2000" y="885825"/>
            <a:ext cx="11430000" cy="4342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420"/>
              </a:lnSpc>
            </a:pPr>
            <a:r>
              <a:rPr sz="2850" b="1" i="0" u="none">
                <a:solidFill>
                  <a:srgbClr val="0F172A"/>
                </a:solidFill>
                <a:latin typeface="Plus Jakarta Sans"/>
              </a:rPr>
              <a:t>Selection and Iteration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2000" y="6096000"/>
            <a:ext cx="3917156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0F172A"/>
                </a:solidFill>
                <a:latin typeface="JetBrains Mono"/>
              </a:rPr>
              <a:t>Multi Lot Parking System — Project Presentation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63250" y="6096000"/>
            <a:ext cx="952500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0F172A"/>
                </a:solidFill>
                <a:latin typeface="JetBrains Mono"/>
              </a:rPr>
              <a:t>16-09-2026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8225" y="3603277"/>
            <a:ext cx="3742069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Conditional Logic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8225" y="3898552"/>
            <a:ext cx="294635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475569"/>
                </a:solidFill>
                <a:latin typeface="Plus Jakarta Sans"/>
              </a:rPr>
              <a:t>Using if / else to check slot availability and handle full-lot error cases.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70375" y="3603277"/>
            <a:ext cx="3742069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Menu Operations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70375" y="3898552"/>
            <a:ext cx="294635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475569"/>
                </a:solidFill>
                <a:latin typeface="Plus Jakarta Sans"/>
              </a:rPr>
              <a:t>Switch statements and while loops for interactive menu-driven control.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02525" y="3603277"/>
            <a:ext cx="3742069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Slot Scanning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02525" y="3898552"/>
            <a:ext cx="294635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475569"/>
                </a:solidFill>
                <a:latin typeface="Plus Jakarta Sans"/>
              </a:rPr>
              <a:t>For loops to scan arrays and process vehicle entry and exit actions.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" y="5934075"/>
            <a:ext cx="10668000" cy="3143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2000" y="2765077"/>
            <a:ext cx="3403550" cy="1838325"/>
          </a:xfrm>
          <a:prstGeom prst="roundRect">
            <a:avLst>
              <a:gd name="adj" fmla="val 725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394150" y="2765077"/>
            <a:ext cx="3403550" cy="1838325"/>
          </a:xfrm>
          <a:prstGeom prst="roundRect">
            <a:avLst>
              <a:gd name="adj" fmla="val 725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026300" y="2765077"/>
            <a:ext cx="3403550" cy="1838325"/>
          </a:xfrm>
          <a:prstGeom prst="roundRect">
            <a:avLst>
              <a:gd name="adj" fmla="val 725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62000" y="5934075"/>
            <a:ext cx="10668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62000" y="4593877"/>
            <a:ext cx="34035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62000" y="2765077"/>
            <a:ext cx="340355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62000" y="2765077"/>
            <a:ext cx="9525" cy="18383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156025" y="2765077"/>
            <a:ext cx="9525" cy="18383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94150" y="4593877"/>
            <a:ext cx="34035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94150" y="2765077"/>
            <a:ext cx="34035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94150" y="2765077"/>
            <a:ext cx="9525" cy="18383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788175" y="2765077"/>
            <a:ext cx="9525" cy="18383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26300" y="4593877"/>
            <a:ext cx="34035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026300" y="2765077"/>
            <a:ext cx="3403550" cy="381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026300" y="2765077"/>
            <a:ext cx="9525" cy="18383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1420326" y="2765077"/>
            <a:ext cx="9525" cy="18383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225" y="3069877"/>
            <a:ext cx="381000" cy="381000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0375" y="3069877"/>
            <a:ext cx="381000" cy="381000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2525" y="3069877"/>
            <a:ext cx="381000" cy="381000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3475" y="3174652"/>
            <a:ext cx="190500" cy="17145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5150" y="3174652"/>
            <a:ext cx="171450" cy="171450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83488" y="3174652"/>
            <a:ext cx="219075" cy="17145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62000" y="609600"/>
            <a:ext cx="11430000" cy="16192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75" b="1" i="0" u="none">
                <a:solidFill>
                  <a:srgbClr val="4F46E5"/>
                </a:solidFill>
                <a:latin typeface="Plus Jakarta Sans"/>
              </a:rPr>
              <a:t>COURSE OUTCOME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2000" y="885825"/>
            <a:ext cx="11430000" cy="4342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420"/>
              </a:lnSpc>
            </a:pPr>
            <a:r>
              <a:rPr sz="2850" b="1" i="0" u="none">
                <a:solidFill>
                  <a:srgbClr val="0F172A"/>
                </a:solidFill>
                <a:latin typeface="Plus Jakarta Sans"/>
              </a:rPr>
              <a:t>Methods, Recursion and Arrays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2000" y="6096000"/>
            <a:ext cx="3917156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0F172A"/>
                </a:solidFill>
                <a:latin typeface="JetBrains Mono"/>
              </a:rPr>
              <a:t>Multi Lot Parking System — Project Presentation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63250" y="6096000"/>
            <a:ext cx="952500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0F172A"/>
                </a:solidFill>
                <a:latin typeface="JetBrains Mono"/>
              </a:rPr>
              <a:t>16-09-2026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8225" y="3603277"/>
            <a:ext cx="3742069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Modular Methods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8225" y="3898552"/>
            <a:ext cx="294635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475569"/>
                </a:solidFill>
                <a:latin typeface="Plus Jakarta Sans"/>
              </a:rPr>
              <a:t>Dividing system tasks into reusable operations for readability.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70375" y="3603277"/>
            <a:ext cx="3742069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Array Storage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70375" y="3898552"/>
            <a:ext cx="294635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475569"/>
                </a:solidFill>
                <a:latin typeface="Plus Jakarta Sans"/>
              </a:rPr>
              <a:t>Storing slot status and managing parking availability states.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02525" y="3603277"/>
            <a:ext cx="3742069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Recursion &amp; Search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02525" y="3898552"/>
            <a:ext cx="294635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475569"/>
                </a:solidFill>
                <a:latin typeface="Plus Jakarta Sans"/>
              </a:rPr>
              <a:t>Recursive search algorithms for advanced processing and lookups.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" y="5934075"/>
            <a:ext cx="10668000" cy="3143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2000" y="2736502"/>
            <a:ext cx="5181600" cy="1819275"/>
          </a:xfrm>
          <a:prstGeom prst="roundRect">
            <a:avLst>
              <a:gd name="adj" fmla="val 6282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248400" y="2643633"/>
            <a:ext cx="5181600" cy="2005012"/>
          </a:xfrm>
          <a:prstGeom prst="roundRect">
            <a:avLst>
              <a:gd name="adj" fmla="val 57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62000" y="5934075"/>
            <a:ext cx="10668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62000" y="609600"/>
            <a:ext cx="11430000" cy="16192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75" b="1" i="0" u="none">
                <a:solidFill>
                  <a:srgbClr val="4F46E5"/>
                </a:solidFill>
                <a:latin typeface="Plus Jakarta Sans"/>
              </a:rPr>
              <a:t>IMPLEMENTATION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885825"/>
            <a:ext cx="11430000" cy="4342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420"/>
              </a:lnSpc>
            </a:pPr>
            <a:r>
              <a:rPr sz="2850" b="1" i="0" u="none">
                <a:solidFill>
                  <a:srgbClr val="0F172A"/>
                </a:solidFill>
                <a:latin typeface="Plus Jakarta Sans"/>
              </a:rPr>
              <a:t>Code Examples: Slot Allocation &amp; 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600" y="2965102"/>
            <a:ext cx="4819650" cy="1362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0" i="0" u="none">
                <a:solidFill>
                  <a:srgbClr val="C084FC"/>
                </a:solidFill>
                <a:latin typeface="JetBrains Mono"/>
              </a:rPr>
              <a:t>public static boolean</a:t>
            </a:r>
            <a:r>
              <a:rPr sz="975" b="0" i="0" u="none">
                <a:solidFill>
                  <a:srgbClr val="E2E8F0"/>
                </a:solidFill>
                <a:latin typeface="JetBrains Mono"/>
              </a:rPr>
              <a:t> </a:t>
            </a:r>
            <a:r>
              <a:rPr sz="975" b="0" i="0" u="none">
                <a:solidFill>
                  <a:srgbClr val="60A5FA"/>
                </a:solidFill>
                <a:latin typeface="JetBrains Mono"/>
              </a:rPr>
              <a:t>checkAvailability</a:t>
            </a:r>
            <a:r>
              <a:rPr sz="975" b="0" i="0" u="none">
                <a:solidFill>
                  <a:srgbClr val="E2E8F0"/>
                </a:solidFill>
                <a:latin typeface="JetBrains Mono"/>
              </a:rPr>
              <a:t>(</a:t>
            </a:r>
            <a:r>
              <a:rPr sz="975" b="0" i="0" u="none">
                <a:solidFill>
                  <a:srgbClr val="C084FC"/>
                </a:solidFill>
                <a:latin typeface="JetBrains Mono"/>
              </a:rPr>
              <a:t>boolean</a:t>
            </a:r>
            <a:r>
              <a:rPr sz="975" b="0" i="0" u="none">
                <a:solidFill>
                  <a:srgbClr val="E2E8F0"/>
                </a:solidFill>
                <a:latin typeface="JetBrains Mono"/>
              </a:rPr>
              <a:t>[] slots) {</a:t>
            </a:r>
            <a:r>
              <a:t>
</a:t>
            </a:r>
            <a:r>
              <a:rPr sz="975" b="0" i="0" u="none">
                <a:solidFill>
                  <a:srgbClr val="E2E8F0"/>
                </a:solidFill>
                <a:latin typeface="JetBrains Mono"/>
              </a:rPr>
              <a:t>   </a:t>
            </a:r>
            <a:r>
              <a:rPr sz="975" b="0" i="0" u="none">
                <a:solidFill>
                  <a:srgbClr val="F472B6"/>
                </a:solidFill>
                <a:latin typeface="JetBrains Mono"/>
              </a:rPr>
              <a:t>for</a:t>
            </a:r>
            <a:r>
              <a:rPr sz="975" b="0" i="0" u="none">
                <a:solidFill>
                  <a:srgbClr val="E2E8F0"/>
                </a:solidFill>
                <a:latin typeface="JetBrains Mono"/>
              </a:rPr>
              <a:t> (</a:t>
            </a:r>
            <a:r>
              <a:rPr sz="975" b="0" i="0" u="none">
                <a:solidFill>
                  <a:srgbClr val="C084FC"/>
                </a:solidFill>
                <a:latin typeface="JetBrains Mono"/>
              </a:rPr>
              <a:t>int</a:t>
            </a:r>
            <a:r>
              <a:rPr sz="975" b="0" i="0" u="none">
                <a:solidFill>
                  <a:srgbClr val="E2E8F0"/>
                </a:solidFill>
                <a:latin typeface="JetBrains Mono"/>
              </a:rPr>
              <a:t> i = </a:t>
            </a:r>
            <a:r>
              <a:rPr sz="975" b="0" i="0" u="none">
                <a:solidFill>
                  <a:srgbClr val="38BDF8"/>
                </a:solidFill>
                <a:latin typeface="JetBrains Mono"/>
              </a:rPr>
              <a:t>0</a:t>
            </a:r>
            <a:r>
              <a:rPr sz="975" b="0" i="0" u="none">
                <a:solidFill>
                  <a:srgbClr val="E2E8F0"/>
                </a:solidFill>
                <a:latin typeface="JetBrains Mono"/>
              </a:rPr>
              <a:t>; i &lt; slots.length; i++) {</a:t>
            </a:r>
            <a:r>
              <a:t>
</a:t>
            </a:r>
            <a:r>
              <a:rPr sz="975" b="0" i="0" u="none">
                <a:solidFill>
                  <a:srgbClr val="E2E8F0"/>
                </a:solidFill>
                <a:latin typeface="JetBrains Mono"/>
              </a:rPr>
              <a:t>     </a:t>
            </a:r>
            <a:r>
              <a:rPr sz="975" b="0" i="0" u="none">
                <a:solidFill>
                  <a:srgbClr val="F472B6"/>
                </a:solidFill>
                <a:latin typeface="JetBrains Mono"/>
              </a:rPr>
              <a:t>if</a:t>
            </a:r>
            <a:r>
              <a:rPr sz="975" b="0" i="0" u="none">
                <a:solidFill>
                  <a:srgbClr val="E2E8F0"/>
                </a:solidFill>
                <a:latin typeface="JetBrains Mono"/>
              </a:rPr>
              <a:t> (!slots[i]) </a:t>
            </a:r>
            <a:r>
              <a:rPr sz="975" b="0" i="0" u="none">
                <a:solidFill>
                  <a:srgbClr val="F472B6"/>
                </a:solidFill>
                <a:latin typeface="JetBrains Mono"/>
              </a:rPr>
              <a:t>return</a:t>
            </a:r>
            <a:r>
              <a:rPr sz="975" b="0" i="0" u="none">
                <a:solidFill>
                  <a:srgbClr val="E2E8F0"/>
                </a:solidFill>
                <a:latin typeface="JetBrains Mono"/>
              </a:rPr>
              <a:t> </a:t>
            </a:r>
            <a:r>
              <a:rPr sz="975" b="0" i="0" u="none">
                <a:solidFill>
                  <a:srgbClr val="38BDF8"/>
                </a:solidFill>
                <a:latin typeface="JetBrains Mono"/>
              </a:rPr>
              <a:t>true</a:t>
            </a:r>
            <a:r>
              <a:rPr sz="975" b="0" i="0" u="none">
                <a:solidFill>
                  <a:srgbClr val="E2E8F0"/>
                </a:solidFill>
                <a:latin typeface="JetBrains Mono"/>
              </a:rPr>
              <a:t>;</a:t>
            </a:r>
            <a:r>
              <a:t>
</a:t>
            </a:r>
            <a:r>
              <a:rPr sz="975" b="0" i="0" u="none">
                <a:solidFill>
                  <a:srgbClr val="E2E8F0"/>
                </a:solidFill>
                <a:latin typeface="JetBrains Mono"/>
              </a:rPr>
              <a:t>   }</a:t>
            </a:r>
            <a:r>
              <a:t>
</a:t>
            </a:r>
            <a:r>
              <a:rPr sz="975" b="0" i="0" u="none">
                <a:solidFill>
                  <a:srgbClr val="E2E8F0"/>
                </a:solidFill>
                <a:latin typeface="JetBrains Mono"/>
              </a:rPr>
              <a:t>   </a:t>
            </a:r>
            <a:r>
              <a:rPr sz="975" b="0" i="0" u="none">
                <a:solidFill>
                  <a:srgbClr val="F472B6"/>
                </a:solidFill>
                <a:latin typeface="JetBrains Mono"/>
              </a:rPr>
              <a:t>return</a:t>
            </a:r>
            <a:r>
              <a:rPr sz="975" b="0" i="0" u="none">
                <a:solidFill>
                  <a:srgbClr val="E2E8F0"/>
                </a:solidFill>
                <a:latin typeface="JetBrains Mono"/>
              </a:rPr>
              <a:t> </a:t>
            </a:r>
            <a:r>
              <a:rPr sz="975" b="0" i="0" u="none">
                <a:solidFill>
                  <a:srgbClr val="38BDF8"/>
                </a:solidFill>
                <a:latin typeface="JetBrains Mono"/>
              </a:rPr>
              <a:t>false</a:t>
            </a:r>
            <a:r>
              <a:rPr sz="975" b="0" i="0" u="none">
                <a:solidFill>
                  <a:srgbClr val="E2E8F0"/>
                </a:solidFill>
                <a:latin typeface="JetBrains Mono"/>
              </a:rPr>
              <a:t>;</a:t>
            </a:r>
            <a:r>
              <a:t>
</a:t>
            </a:r>
            <a:r>
              <a:rPr sz="975" b="0" i="0" u="none">
                <a:solidFill>
                  <a:srgbClr val="E2E8F0"/>
                </a:solidFill>
                <a:latin typeface="JetBrains Mono"/>
              </a:rPr>
              <a:t> 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0" y="2872233"/>
            <a:ext cx="4819650" cy="15478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0" i="0" u="none">
                <a:solidFill>
                  <a:srgbClr val="C084FC"/>
                </a:solidFill>
                <a:latin typeface="JetBrains Mono"/>
              </a:rPr>
              <a:t>public static void</a:t>
            </a:r>
            <a:r>
              <a:rPr sz="975" b="0" i="0" u="none">
                <a:solidFill>
                  <a:srgbClr val="E2E8F0"/>
                </a:solidFill>
                <a:latin typeface="JetBrains Mono"/>
              </a:rPr>
              <a:t> </a:t>
            </a:r>
            <a:r>
              <a:rPr sz="975" b="0" i="0" u="none">
                <a:solidFill>
                  <a:srgbClr val="60A5FA"/>
                </a:solidFill>
                <a:latin typeface="JetBrains Mono"/>
              </a:rPr>
              <a:t>parkVehicle</a:t>
            </a:r>
            <a:r>
              <a:rPr sz="975" b="0" i="0" u="none">
                <a:solidFill>
                  <a:srgbClr val="E2E8F0"/>
                </a:solidFill>
                <a:latin typeface="JetBrains Mono"/>
              </a:rPr>
              <a:t>(String plate, </a:t>
            </a:r>
            <a:r>
              <a:rPr sz="975" b="0" i="0" u="none">
                <a:solidFill>
                  <a:srgbClr val="C084FC"/>
                </a:solidFill>
                <a:latin typeface="JetBrains Mono"/>
              </a:rPr>
              <a:t>boolean</a:t>
            </a:r>
            <a:r>
              <a:rPr sz="975" b="0" i="0" u="none">
                <a:solidFill>
                  <a:srgbClr val="E2E8F0"/>
                </a:solidFill>
                <a:latin typeface="JetBrains Mono"/>
              </a:rPr>
              <a:t>[] slots) {</a:t>
            </a:r>
            <a:r>
              <a:t>
</a:t>
            </a:r>
            <a:r>
              <a:rPr sz="975" b="0" i="0" u="none">
                <a:solidFill>
                  <a:srgbClr val="E2E8F0"/>
                </a:solidFill>
                <a:latin typeface="JetBrains Mono"/>
              </a:rPr>
              <a:t>   Scanner sc = </a:t>
            </a:r>
            <a:r>
              <a:rPr sz="975" b="0" i="0" u="none">
                <a:solidFill>
                  <a:srgbClr val="F472B6"/>
                </a:solidFill>
                <a:latin typeface="JetBrains Mono"/>
              </a:rPr>
              <a:t>new</a:t>
            </a:r>
            <a:r>
              <a:rPr sz="975" b="0" i="0" u="none">
                <a:solidFill>
                  <a:srgbClr val="E2E8F0"/>
                </a:solidFill>
                <a:latin typeface="JetBrains Mono"/>
              </a:rPr>
              <a:t> Scanner(System.in);</a:t>
            </a:r>
            <a:r>
              <a:t>
</a:t>
            </a:r>
            <a:r>
              <a:rPr sz="975" b="0" i="0" u="none">
                <a:solidFill>
                  <a:srgbClr val="E2E8F0"/>
                </a:solidFill>
                <a:latin typeface="JetBrains Mono"/>
              </a:rPr>
              <a:t>   </a:t>
            </a:r>
            <a:r>
              <a:rPr sz="975" b="0" i="0" u="none">
                <a:solidFill>
                  <a:srgbClr val="38BDF8"/>
                </a:solidFill>
                <a:latin typeface="JetBrains Mono"/>
              </a:rPr>
              <a:t>System.out.println</a:t>
            </a:r>
            <a:r>
              <a:rPr sz="975" b="0" i="0" u="none">
                <a:solidFill>
                  <a:srgbClr val="E2E8F0"/>
                </a:solidFill>
                <a:latin typeface="JetBrains Mono"/>
              </a:rPr>
              <a:t>(</a:t>
            </a:r>
            <a:r>
              <a:rPr sz="975" b="0" i="0" u="none">
                <a:solidFill>
                  <a:srgbClr val="86EFAC"/>
                </a:solidFill>
                <a:latin typeface="JetBrains Mono"/>
              </a:rPr>
              <a:t>"Assigning slot for: "</a:t>
            </a:r>
            <a:r>
              <a:rPr sz="975" b="0" i="0" u="none">
                <a:solidFill>
                  <a:srgbClr val="E2E8F0"/>
                </a:solidFill>
                <a:latin typeface="JetBrains Mono"/>
              </a:rPr>
              <a:t> + plate);</a:t>
            </a:r>
            <a:r>
              <a:t>
</a:t>
            </a:r>
            <a:r>
              <a:rPr sz="975" b="0" i="0" u="none">
                <a:solidFill>
                  <a:srgbClr val="E2E8F0"/>
                </a:solidFill>
                <a:latin typeface="JetBrains Mono"/>
              </a:rPr>
              <a:t>   </a:t>
            </a:r>
            <a:r>
              <a:rPr sz="975" b="0" i="0" u="none">
                <a:solidFill>
                  <a:srgbClr val="C084FC"/>
                </a:solidFill>
                <a:latin typeface="JetBrains Mono"/>
              </a:rPr>
              <a:t>int</a:t>
            </a:r>
            <a:r>
              <a:rPr sz="975" b="0" i="0" u="none">
                <a:solidFill>
                  <a:srgbClr val="E2E8F0"/>
                </a:solidFill>
                <a:latin typeface="JetBrains Mono"/>
              </a:rPr>
              <a:t> slotId = findFirstFreeSlot(slots);</a:t>
            </a:r>
            <a:r>
              <a:t>
</a:t>
            </a:r>
            <a:r>
              <a:rPr sz="975" b="0" i="0" u="none">
                <a:solidFill>
                  <a:srgbClr val="E2E8F0"/>
                </a:solidFill>
                <a:latin typeface="JetBrains Mono"/>
              </a:rPr>
              <a:t>   </a:t>
            </a:r>
            <a:r>
              <a:rPr sz="975" b="0" i="0" u="none">
                <a:solidFill>
                  <a:srgbClr val="F472B6"/>
                </a:solidFill>
                <a:latin typeface="JetBrains Mono"/>
              </a:rPr>
              <a:t>if</a:t>
            </a:r>
            <a:r>
              <a:rPr sz="975" b="0" i="0" u="none">
                <a:solidFill>
                  <a:srgbClr val="E2E8F0"/>
                </a:solidFill>
                <a:latin typeface="JetBrains Mono"/>
              </a:rPr>
              <a:t>(slotId != -</a:t>
            </a:r>
            <a:r>
              <a:rPr sz="975" b="0" i="0" u="none">
                <a:solidFill>
                  <a:srgbClr val="38BDF8"/>
                </a:solidFill>
                <a:latin typeface="JetBrains Mono"/>
              </a:rPr>
              <a:t>1</a:t>
            </a:r>
            <a:r>
              <a:rPr sz="975" b="0" i="0" u="none">
                <a:solidFill>
                  <a:srgbClr val="E2E8F0"/>
                </a:solidFill>
                <a:latin typeface="JetBrains Mono"/>
              </a:rPr>
              <a:t>) slots[slotId] = </a:t>
            </a:r>
            <a:r>
              <a:rPr sz="975" b="0" i="0" u="none">
                <a:solidFill>
                  <a:srgbClr val="38BDF8"/>
                </a:solidFill>
                <a:latin typeface="JetBrains Mono"/>
              </a:rPr>
              <a:t>true</a:t>
            </a:r>
            <a:r>
              <a:rPr sz="975" b="0" i="0" u="none">
                <a:solidFill>
                  <a:srgbClr val="E2E8F0"/>
                </a:solidFill>
                <a:latin typeface="JetBrains Mono"/>
              </a:rPr>
              <a:t>;</a:t>
            </a:r>
            <a:r>
              <a:t>
</a:t>
            </a:r>
            <a:r>
              <a:rPr sz="975" b="0" i="0" u="none">
                <a:solidFill>
                  <a:srgbClr val="E2E8F0"/>
                </a:solidFill>
                <a:latin typeface="JetBrains Mono"/>
              </a:rPr>
              <a:t> 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6096000"/>
            <a:ext cx="3917156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0F172A"/>
                </a:solidFill>
                <a:latin typeface="JetBrains Mono"/>
              </a:rPr>
              <a:t>Multi Lot Parking System — Project Presentation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63250" y="6096000"/>
            <a:ext cx="952500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0F172A"/>
                </a:solidFill>
                <a:latin typeface="JetBrains Mono"/>
              </a:rPr>
              <a:t>16-09-2026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600" y="2786508"/>
            <a:ext cx="59055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 i="0" u="none" dirty="0">
                <a:solidFill>
                  <a:srgbClr val="64748B"/>
                </a:solidFill>
                <a:latin typeface="JetBrains Mono"/>
              </a:rPr>
              <a:t>// Availability Check Method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56045" y="2698403"/>
            <a:ext cx="5715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 i="0" u="none" dirty="0">
                <a:solidFill>
                  <a:srgbClr val="64748B"/>
                </a:solidFill>
                <a:latin typeface="JetBrains Mono"/>
              </a:rPr>
              <a:t>// Vehicle Entry Handling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4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62000" y="5876925"/>
            <a:ext cx="10668000" cy="3714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62000" y="609600"/>
            <a:ext cx="2009775" cy="333375"/>
          </a:xfrm>
          <a:prstGeom prst="roundRect">
            <a:avLst>
              <a:gd name="adj" fmla="val 50000"/>
            </a:avLst>
          </a:prstGeom>
          <a:solidFill>
            <a:srgbClr val="242457"/>
          </a:solidFill>
          <a:ln w="9525">
            <a:solidFill>
              <a:srgbClr val="3435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62000" y="2786062"/>
            <a:ext cx="5181600" cy="1924050"/>
          </a:xfrm>
          <a:prstGeom prst="roundRect">
            <a:avLst>
              <a:gd name="adj" fmla="val 7920"/>
            </a:avLst>
          </a:prstGeom>
          <a:solidFill>
            <a:srgbClr val="1B1B37"/>
          </a:solidFill>
          <a:ln w="9525">
            <a:solidFill>
              <a:srgbClr val="2C2C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248400" y="2900362"/>
            <a:ext cx="5181600" cy="1695450"/>
          </a:xfrm>
          <a:prstGeom prst="roundRect">
            <a:avLst>
              <a:gd name="adj" fmla="val 8988"/>
            </a:avLst>
          </a:prstGeom>
          <a:solidFill>
            <a:srgbClr val="1B1B37"/>
          </a:solidFill>
          <a:ln w="9525">
            <a:solidFill>
              <a:srgbClr val="2C2C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62000" y="5876925"/>
            <a:ext cx="10668000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925" y="709612"/>
            <a:ext cx="133350" cy="13335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6325" y="3100387"/>
            <a:ext cx="419100" cy="4191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2725" y="3214687"/>
            <a:ext cx="419100" cy="41910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6812" y="3214687"/>
            <a:ext cx="238125" cy="19050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1787" y="3328987"/>
            <a:ext cx="180975" cy="1905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62000" y="1133475"/>
            <a:ext cx="11430000" cy="4476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850" b="1" i="0" u="none">
                <a:solidFill>
                  <a:srgbClr val="FFFFFF"/>
                </a:solidFill>
                <a:latin typeface="Plus Jakarta Sans"/>
              </a:rPr>
              <a:t>Project Demonstration &amp; Resources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6076950"/>
            <a:ext cx="4345781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CBD5E1"/>
                </a:solidFill>
                <a:latin typeface="Plus Jakarta Sans"/>
              </a:rPr>
              <a:t>Team: Aravapalli Varun | Santosh Boddu | M Venkata Likith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68000" y="6081712"/>
            <a:ext cx="104775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94A3B8"/>
                </a:solidFill>
                <a:latin typeface="JetBrains Mono"/>
              </a:rPr>
              <a:t>16-09-2026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525" y="695325"/>
            <a:ext cx="1821656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818CF8"/>
                </a:solidFill>
                <a:latin typeface="JetBrains Mono"/>
              </a:rPr>
              <a:t>CONCLUSION &amp; DEMO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6325" y="3671887"/>
            <a:ext cx="5975746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F8FAFC"/>
                </a:solidFill>
                <a:latin typeface="Plus Jakarta Sans"/>
              </a:rPr>
              <a:t>System Demo &amp; CLI Execution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6325" y="3967162"/>
            <a:ext cx="46482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CBD5E1"/>
                </a:solidFill>
                <a:latin typeface="Plus Jakarta Sans"/>
              </a:rPr>
              <a:t>Live demonstration showcasing interactive menu navigation, slot status updates, and multi-lot handling.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62725" y="3786187"/>
            <a:ext cx="5629275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F8FAFC"/>
                </a:solidFill>
                <a:latin typeface="Plus Jakarta Sans"/>
              </a:rPr>
              <a:t>GitHub Repository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62725" y="4081462"/>
            <a:ext cx="5629275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rgbClr val="818CF8"/>
                </a:solidFill>
                <a:latin typeface="Plus Jakarta Sans"/>
              </a:rPr>
              <a:t>https://github.com/varun081217/KLH-PSPJ-S11-16-MLPS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433</Words>
  <Application>Microsoft Office PowerPoint</Application>
  <PresentationFormat>Widescreen</PresentationFormat>
  <Paragraphs>81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JetBrains Mono</vt:lpstr>
      <vt:lpstr>Arial</vt:lpstr>
      <vt:lpstr>Plus Jakarta Sans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HP</cp:lastModifiedBy>
  <cp:revision>2</cp:revision>
  <dcterms:created xsi:type="dcterms:W3CDTF">2013-01-27T09:14:16Z</dcterms:created>
  <dcterms:modified xsi:type="dcterms:W3CDTF">2026-09-21T07:20:45Z</dcterms:modified>
  <cp:category/>
</cp:coreProperties>
</file>