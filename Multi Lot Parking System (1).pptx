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  <ns0:embeddedFont>
      <ns0:font typeface="JetBrains Mono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b81fe18e-0f7a-4f8a-9c53-350e635baf91.fntdata" /><ns0:Relationship Id="rIdFont16" Type="http://schemas.openxmlformats.org/officeDocument/2006/relationships/font" Target="fonts/181422b5-8917-41f2-b554-b8cad5e9f9ff.fntdata" /><ns0:Relationship Id="rIdFont17" Type="http://schemas.openxmlformats.org/officeDocument/2006/relationships/font" Target="fonts/4d6a7a90-3001-41da-969c-a0e0f2e5c8ad.fntdata" /><ns0:Relationship Id="rIdFont18" Type="http://schemas.openxmlformats.org/officeDocument/2006/relationships/font" Target="fonts/a3a401db-0e49-470c-b92d-3b53a329bb6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1893540"/>
            <a:ext cx="2695575" cy="333375"/>
          </a:xfrm>
          <a:prstGeom prst="roundRect">
            <a:avLst>
              <a:gd name="adj" fmla="val 50000"/>
            </a:avLst>
          </a:prstGeom>
          <a:solidFill>
            <a:srgbClr val="242457"/>
          </a:solidFill>
          <a:ln w="9525">
            <a:solidFill>
              <a:srgbClr val="3435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135635"/>
            <a:ext cx="10668000" cy="828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135635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984027"/>
            <a:ext cx="13335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455515"/>
            <a:ext cx="10626328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Multi Lot Parking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221235"/>
            <a:ext cx="6762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Core Java application for automated slot management, vehicle entry tracking, and multi-lot coordination.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1979265"/>
            <a:ext cx="267890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18CF8"/>
                </a:solidFill>
                <a:latin typeface="JetBrains Mono"/>
              </a:rPr>
              <a:t>TEAM NO: 16 | KLH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411860"/>
            <a:ext cx="1452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A3B8"/>
                </a:solidFill>
                <a:latin typeface="Plus Jakarta Sans"/>
              </a:rPr>
              <a:t>DEVELOPER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02360"/>
            <a:ext cx="1452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Aravapalli Varun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802385"/>
            <a:ext cx="1452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18CF8"/>
                </a:solidFill>
                <a:latin typeface="JetBrains Mono"/>
              </a:rPr>
              <a:t>2620030414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8850" y="4411860"/>
            <a:ext cx="13906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A3B8"/>
                </a:solidFill>
                <a:latin typeface="Plus Jakarta Sans"/>
              </a:rPr>
              <a:t>DEVELOPER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8850" y="4602360"/>
            <a:ext cx="1390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Santosh Boddu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8850" y="4802385"/>
            <a:ext cx="13906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18CF8"/>
                </a:solidFill>
                <a:latin typeface="JetBrains Mono"/>
              </a:rPr>
              <a:t>2620030436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4411860"/>
            <a:ext cx="1464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4A3B8"/>
                </a:solidFill>
                <a:latin typeface="Plus Jakarta Sans"/>
              </a:rPr>
              <a:t>DEVELOPER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8550" y="4602360"/>
            <a:ext cx="1464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M Venkata Likith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4802385"/>
            <a:ext cx="14644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18CF8"/>
                </a:solidFill>
                <a:latin typeface="JetBrains Mono"/>
              </a:rPr>
              <a:t>2620030352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34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451794"/>
            <a:ext cx="5181600" cy="2464891"/>
          </a:xfrm>
          <a:prstGeom prst="roundRect">
            <a:avLst>
              <a:gd name="adj" fmla="val 61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451794"/>
            <a:ext cx="5181600" cy="2464891"/>
          </a:xfrm>
          <a:prstGeom prst="roundRect">
            <a:avLst>
              <a:gd name="adj" fmla="val 61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5934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907160"/>
            <a:ext cx="518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2451794"/>
            <a:ext cx="518160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451794"/>
            <a:ext cx="9525" cy="24648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34075" y="2451794"/>
            <a:ext cx="9525" cy="24648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400" y="4907160"/>
            <a:ext cx="5181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8400" y="2451794"/>
            <a:ext cx="5181600" cy="381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400" y="2451794"/>
            <a:ext cx="9525" cy="24648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20475" y="2451794"/>
            <a:ext cx="9525" cy="24648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832794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832794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2956619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6075" y="2956619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885825"/>
            <a:ext cx="114300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us Jakarta Sans"/>
              </a:rPr>
              <a:t>System Abstract &amp; 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6096000"/>
            <a:ext cx="3917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Multi Lot Parking System — Project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3250" y="6096000"/>
            <a:ext cx="952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16-09-2026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425" y="3480494"/>
            <a:ext cx="587573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Unified Lot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" y="3832919"/>
            <a:ext cx="4572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Java-based application managing vehicle parking across multiple lots, recording availability and tracking entry/exit states in real-time.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825" y="3480494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Programming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0825" y="3832919"/>
            <a:ext cx="4572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Demonstrates fundamental programming concepts from CO1, CO2, and CO3 through a practical, real-world parking management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34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451794"/>
            <a:ext cx="4774555" cy="2464891"/>
          </a:xfrm>
          <a:prstGeom prst="roundRect">
            <a:avLst>
              <a:gd name="adj" fmla="val 61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41355" y="2303115"/>
            <a:ext cx="5588644" cy="276225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5934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4907160"/>
            <a:ext cx="477455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2451794"/>
            <a:ext cx="4774555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451794"/>
            <a:ext cx="9525" cy="24648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27030" y="2451794"/>
            <a:ext cx="9525" cy="24648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41355" y="5055840"/>
            <a:ext cx="55886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41355" y="2303115"/>
            <a:ext cx="5588644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41355" y="2303115"/>
            <a:ext cx="9525" cy="2762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20475" y="2303115"/>
            <a:ext cx="9525" cy="2762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832794"/>
            <a:ext cx="4572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780" y="2684115"/>
            <a:ext cx="45720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2956619"/>
            <a:ext cx="209550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7605" y="2807940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CHALLENGE &amp;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885825"/>
            <a:ext cx="114300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us Jakarta Sans"/>
              </a:rPr>
              <a:t>Understanding Problem 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6096000"/>
            <a:ext cx="3917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Multi Lot Parking System — Project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3250" y="6096000"/>
            <a:ext cx="952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16-09-2026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425" y="3480494"/>
            <a:ext cx="5341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The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25" y="3832919"/>
            <a:ext cx="416495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Managing multiple parking lots manually makes tracking available spaces, slot allocations, and dynamic vehicle movement difficult and error-prone.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3780" y="3331815"/>
            <a:ext cx="59982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Proposed Solution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8080" y="3684240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4280" y="3684240"/>
            <a:ext cx="5807719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Maintain parking-lot and slot information digitally.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8080" y="3941415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4280" y="3941415"/>
            <a:ext cx="5807719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Check availability before assigning parking slots.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8080" y="4198590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4280" y="4198590"/>
            <a:ext cx="5807719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Process entry &amp; exit using selection and iteration.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8080" y="4455765"/>
            <a:ext cx="762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4280" y="4455765"/>
            <a:ext cx="5807719" cy="25717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Use methods, recursion, and arrays to organize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34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65077"/>
            <a:ext cx="34035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765077"/>
            <a:ext cx="34035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765077"/>
            <a:ext cx="34035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934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593877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765077"/>
            <a:ext cx="340355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56025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150" y="4593877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4150" y="2765077"/>
            <a:ext cx="340355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4150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8175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6300" y="4593877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6300" y="2765077"/>
            <a:ext cx="340355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6300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20326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069877"/>
            <a:ext cx="381000" cy="381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069877"/>
            <a:ext cx="381000" cy="3810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3069877"/>
            <a:ext cx="381000" cy="381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525" y="3174652"/>
            <a:ext cx="1524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4675" y="3174652"/>
            <a:ext cx="15240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7775" y="3174652"/>
            <a:ext cx="190500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COURSE OUTCOME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885825"/>
            <a:ext cx="114300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us Jakarta Sans"/>
              </a:rPr>
              <a:t>Data, Types &amp; the Shell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6096000"/>
            <a:ext cx="3917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Multi Lot Parking System — Project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63250" y="6096000"/>
            <a:ext cx="952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16-09-2026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225" y="3603277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Variables &amp; Primitives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898552"/>
            <a:ext cx="294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Using int, double, and boolean to store vehicle status and lot capacity.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0375" y="3603277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String Identifiers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0375" y="3898552"/>
            <a:ext cx="294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Managing vehicle license plates and slot IDs seamlessly.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525" y="3603277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I/O &amp;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525" y="3898552"/>
            <a:ext cx="294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Scanner input, System.out, class definitions, and main()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34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65077"/>
            <a:ext cx="34035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765077"/>
            <a:ext cx="34035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765077"/>
            <a:ext cx="34035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934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593877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765077"/>
            <a:ext cx="340355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56025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150" y="4593877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4150" y="2765077"/>
            <a:ext cx="3403550" cy="3810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4150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8175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6300" y="4593877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6300" y="2765077"/>
            <a:ext cx="340355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6300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20326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069877"/>
            <a:ext cx="381000" cy="381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069877"/>
            <a:ext cx="381000" cy="3810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3069877"/>
            <a:ext cx="381000" cy="381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525" y="3174652"/>
            <a:ext cx="1524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150" y="3174652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300" y="3174652"/>
            <a:ext cx="171450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COURSE OUTCOME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885825"/>
            <a:ext cx="114300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us Jakarta Sans"/>
              </a:rPr>
              <a:t>Selection and Iteration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6096000"/>
            <a:ext cx="3917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Multi Lot Parking System — Project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63250" y="6096000"/>
            <a:ext cx="952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16-09-2026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225" y="3603277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Conditional Logic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898552"/>
            <a:ext cx="294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Using if / else to check slot availability and handle full-lot error cases.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0375" y="3603277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Menu Operations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0375" y="3898552"/>
            <a:ext cx="294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Switch statements and while loops for interactive menu-driven control.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525" y="3603277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Slot Scanning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525" y="3898552"/>
            <a:ext cx="294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For loops to scan arrays and process vehicle entry and exit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34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65077"/>
            <a:ext cx="34035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94150" y="2765077"/>
            <a:ext cx="34035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2765077"/>
            <a:ext cx="3403550" cy="1838325"/>
          </a:xfrm>
          <a:prstGeom prst="roundRect">
            <a:avLst>
              <a:gd name="adj" fmla="val 72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5934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593877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765077"/>
            <a:ext cx="340355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56025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150" y="4593877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4150" y="2765077"/>
            <a:ext cx="34035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4150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88175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6300" y="4593877"/>
            <a:ext cx="34035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6300" y="2765077"/>
            <a:ext cx="340355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6300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20326" y="2765077"/>
            <a:ext cx="9525" cy="1838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3069877"/>
            <a:ext cx="381000" cy="3810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375" y="3069877"/>
            <a:ext cx="381000" cy="3810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3069877"/>
            <a:ext cx="381000" cy="381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475" y="3174652"/>
            <a:ext cx="190500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150" y="3174652"/>
            <a:ext cx="17145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3488" y="3174652"/>
            <a:ext cx="219075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COURSE OUTCOME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885825"/>
            <a:ext cx="114300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us Jakarta Sans"/>
              </a:rPr>
              <a:t>Methods, Recursion and Arrays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6096000"/>
            <a:ext cx="3917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Multi Lot Parking System — Project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63250" y="6096000"/>
            <a:ext cx="952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16-09-2026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225" y="3603277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Modular Methods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898552"/>
            <a:ext cx="294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Dividing system tasks into reusable operations for readability.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0375" y="3603277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Array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0375" y="3898552"/>
            <a:ext cx="294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Storing slot status and managing parking availability states.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525" y="3603277"/>
            <a:ext cx="374206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Recursion &amp; 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525" y="3898552"/>
            <a:ext cx="29463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Recursive search algorithms for advanced processing and lookups.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5934075"/>
            <a:ext cx="106680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736502"/>
            <a:ext cx="5181600" cy="1819275"/>
          </a:xfrm>
          <a:prstGeom prst="roundRect">
            <a:avLst>
              <a:gd name="adj" fmla="val 628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643633"/>
            <a:ext cx="5181600" cy="2005012"/>
          </a:xfrm>
          <a:prstGeom prst="roundRect">
            <a:avLst>
              <a:gd name="adj" fmla="val 57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5934075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096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85825"/>
            <a:ext cx="11430000" cy="434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b="1" sz="2850" i="0" u="none">
                <a:solidFill>
                  <a:srgbClr val="0F172A"/>
                </a:solidFill>
                <a:latin typeface="Plus Jakarta Sans"/>
              </a:rPr>
              <a:t>Code Examples: Slot Allocation &amp;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965102"/>
            <a:ext cx="4819650" cy="1362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084FC"/>
                </a:solidFill>
                <a:latin typeface="JetBrains Mono"/>
              </a:rPr>
              <a:t>public static boolean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60A5FA"/>
                </a:solidFill>
                <a:latin typeface="JetBrains Mono"/>
              </a:rPr>
              <a:t>checkAvailability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</a:t>
            </a:r>
            <a:r>
              <a:rPr b="0" sz="975" i="0" u="none">
                <a:solidFill>
                  <a:srgbClr val="C084FC"/>
                </a:solidFill>
                <a:latin typeface="JetBrains Mono"/>
              </a:rPr>
              <a:t>boolean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[] slots) {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for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(</a:t>
            </a:r>
            <a:r>
              <a:rPr b="0" sz="975" i="0" u="none">
                <a:solidFill>
                  <a:srgbClr val="C084FC"/>
                </a:solidFill>
                <a:latin typeface="JetBrains Mono"/>
              </a:rPr>
              <a:t>int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i =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0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; i &lt; slots.length; i++) {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if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(!slots[i])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return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true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}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return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false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2872233"/>
            <a:ext cx="4819650" cy="1547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084FC"/>
                </a:solidFill>
                <a:latin typeface="JetBrains Mono"/>
              </a:rPr>
              <a:t>public static void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</a:t>
            </a:r>
            <a:r>
              <a:rPr b="0" sz="975" i="0" u="none">
                <a:solidFill>
                  <a:srgbClr val="60A5FA"/>
                </a:solidFill>
                <a:latin typeface="JetBrains Mono"/>
              </a:rPr>
              <a:t>parkVehicle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(String plate, </a:t>
            </a:r>
            <a:r>
              <a:rPr b="0" sz="975" i="0" u="none">
                <a:solidFill>
                  <a:srgbClr val="C084FC"/>
                </a:solidFill>
                <a:latin typeface="JetBrains Mono"/>
              </a:rPr>
              <a:t>boolean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[] slots) {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Scanner sc = 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new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Scanner(System.in);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System.out.println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</a:t>
            </a:r>
            <a:r>
              <a:rPr b="0" sz="975" i="0" u="none">
                <a:solidFill>
                  <a:srgbClr val="86EFAC"/>
                </a:solidFill>
                <a:latin typeface="JetBrains Mono"/>
              </a:rPr>
              <a:t>"Assigning slot for: "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+ plate);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975" i="0" u="none">
                <a:solidFill>
                  <a:srgbClr val="C084FC"/>
                </a:solidFill>
                <a:latin typeface="JetBrains Mono"/>
              </a:rPr>
              <a:t>int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slotId = findFirstFreeSlot(slots);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  </a:t>
            </a:r>
            <a:r>
              <a:rPr b="0" sz="975" i="0" u="none">
                <a:solidFill>
                  <a:srgbClr val="F472B6"/>
                </a:solidFill>
                <a:latin typeface="JetBrains Mono"/>
              </a:rPr>
              <a:t>if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(slotId != -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1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) slots[slotId] = 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true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;</a:t>
            </a:r>
            <a:r>
              <a:t>
</a:t>
            </a:r>
            <a:r>
              <a:rPr b="0" sz="975" i="0" u="none">
                <a:solidFill>
                  <a:srgbClr val="E2E8F0"/>
                </a:solidFill>
                <a:latin typeface="JetBrains Mono"/>
              </a:rPr>
              <a:t>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96000"/>
            <a:ext cx="3917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Multi Lot Parking System — 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0" y="6096000"/>
            <a:ext cx="952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JetBrains Mono"/>
              </a:rPr>
              <a:t>16-09-2026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2965102"/>
            <a:ext cx="5905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JetBrains Mono"/>
              </a:rPr>
              <a:t>// Availability Check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2872233"/>
            <a:ext cx="5715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JetBrains Mono"/>
              </a:rPr>
              <a:t>// Vehicle Entry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3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5876925"/>
            <a:ext cx="106680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609600"/>
            <a:ext cx="2009775" cy="333375"/>
          </a:xfrm>
          <a:prstGeom prst="roundRect">
            <a:avLst>
              <a:gd name="adj" fmla="val 50000"/>
            </a:avLst>
          </a:prstGeom>
          <a:solidFill>
            <a:srgbClr val="242457"/>
          </a:solidFill>
          <a:ln w="9525">
            <a:solidFill>
              <a:srgbClr val="3435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2786062"/>
            <a:ext cx="5181600" cy="1924050"/>
          </a:xfrm>
          <a:prstGeom prst="roundRect">
            <a:avLst>
              <a:gd name="adj" fmla="val 7920"/>
            </a:avLst>
          </a:prstGeom>
          <a:solidFill>
            <a:srgbClr val="1B1B37"/>
          </a:solidFill>
          <a:ln w="9525">
            <a:solidFill>
              <a:srgbClr val="2C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2900362"/>
            <a:ext cx="5181600" cy="1695450"/>
          </a:xfrm>
          <a:prstGeom prst="roundRect">
            <a:avLst>
              <a:gd name="adj" fmla="val 8988"/>
            </a:avLst>
          </a:prstGeom>
          <a:solidFill>
            <a:srgbClr val="1B1B37"/>
          </a:solidFill>
          <a:ln w="9525">
            <a:solidFill>
              <a:srgbClr val="2C2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5876925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709612"/>
            <a:ext cx="1333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3100387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3214687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812" y="3214687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787" y="3328987"/>
            <a:ext cx="180975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2000" y="1133475"/>
            <a:ext cx="114300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FFFFF"/>
                </a:solidFill>
                <a:latin typeface="Plus Jakarta Sans"/>
              </a:rPr>
              <a:t>Project Demonstration &amp; 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076950"/>
            <a:ext cx="4345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Team: Aravapalli Varun | Santosh Boddu | M Venkata Likith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0" y="6081712"/>
            <a:ext cx="1047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JetBrains Mono"/>
              </a:rPr>
              <a:t>16-09-2026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695325"/>
            <a:ext cx="1821656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18CF8"/>
                </a:solidFill>
                <a:latin typeface="JetBrains Mono"/>
              </a:rPr>
              <a:t>CONCLUSION &amp;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3671887"/>
            <a:ext cx="59757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System Demo &amp; CLI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325" y="3967162"/>
            <a:ext cx="46482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Live demonstration showcasing interactive menu navigation, slot status updates, and multi-lot handling.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3786187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GitHub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4081462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818CF8"/>
                </a:solidFill>
                <a:latin typeface="Plus Jakarta Sans"/>
              </a:rPr>
              <a:t>https://github.com/varun081217/KLH-PSPJ-S11-16-MLPS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